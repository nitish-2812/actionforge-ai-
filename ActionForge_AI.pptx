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8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A2E-4903-8F55-49A9D6D894F7}"/>
              </c:ext>
            </c:extLst>
          </c:dPt>
          <c:dPt>
            <c:idx val="1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2E-4903-8F55-49A9D6D894F7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2E-4903-8F55-49A9D6D894F7}"/>
              </c:ext>
            </c:extLst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2E-4903-8F55-49A9D6D894F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Success</c:v>
                </c:pt>
                <c:pt idx="2">
                  <c:v>Reliability</c:v>
                </c:pt>
                <c:pt idx="3">
                  <c:v>Speed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97</c:v>
                </c:pt>
                <c:pt idx="2">
                  <c:v>100</c:v>
                </c:pt>
                <c:pt idx="3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A2E-4903-8F55-49A9D6D894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5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639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30">
              <a:alpha val="70000"/>
            </a:srgbClr>
          </a:solidFill>
          <a:ln w="12700">
            <a:solidFill>
              <a:srgbClr val="1A0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132320" y="274320"/>
            <a:ext cx="1645920" cy="1645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594360" cy="59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347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ActionForge AI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ActionForge</a:t>
            </a:r>
            <a:r>
              <a:rPr lang="en-US" sz="60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AI</a:t>
            </a:r>
            <a:endParaRPr lang="en-US" sz="6000" dirty="0"/>
          </a:p>
        </p:txBody>
      </p:sp>
      <p:sp>
        <p:nvSpPr>
          <p:cNvPr id="9" name="Text 5"/>
          <p:cNvSpPr/>
          <p:nvPr/>
        </p:nvSpPr>
        <p:spPr>
          <a:xfrm>
            <a:off x="45720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1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Meeting Notes into Actionable Strategy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57200" y="3017520"/>
            <a:ext cx="5029200" cy="27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57200" y="31272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discussions to clear tasks, owners, deadlines &amp; follow-up communication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3703320"/>
            <a:ext cx="8412480" cy="1234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548640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4069080"/>
            <a:ext cx="19659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1"/>
          <p:cNvSpPr/>
          <p:nvPr/>
        </p:nvSpPr>
        <p:spPr>
          <a:xfrm>
            <a:off x="502920" y="4096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J.Pranav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Krishna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02920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560320" y="4069080"/>
            <a:ext cx="19659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2606040" y="4096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R.Sai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Nitish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606040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663440" y="4069080"/>
            <a:ext cx="19659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4709160" y="4096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D.Chaitanya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Raju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09160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766560" y="4069080"/>
            <a:ext cx="1965960" cy="731520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Text 20"/>
          <p:cNvSpPr/>
          <p:nvPr/>
        </p:nvSpPr>
        <p:spPr>
          <a:xfrm>
            <a:off x="6812280" y="40965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A.Teja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Manoj &amp; D. Sandeep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812280" y="4389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Prof. [Rithvik </a:t>
            </a:r>
            <a:r>
              <a:rPr lang="en-US" sz="900" i="1" dirty="0" err="1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Konakala</a:t>
            </a: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429768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29844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097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Meeting Notes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" y="144475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discussions are scattered, hard to parse, and lose context quickly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2304288"/>
            <a:ext cx="429768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65760" y="2304288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9689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Action Items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" y="27432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tasks buried in conversation are overlooked and never completed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65760" y="3602736"/>
            <a:ext cx="429768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365760" y="3602736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95344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05840" y="36941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Ownership &amp; Deadlines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" y="404164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assignment of who owns what task or when it must be done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943959" y="1005840"/>
            <a:ext cx="429768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7"/>
          <p:cNvSpPr/>
          <p:nvPr/>
        </p:nvSpPr>
        <p:spPr>
          <a:xfrm>
            <a:off x="4937760" y="1005840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1298448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10972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Follow-up Communication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577840" y="144475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fail to send timely updates, leaving stakeholders uninformed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937760" y="2304288"/>
            <a:ext cx="4297680" cy="1143000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937760" y="2304288"/>
            <a:ext cx="54864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596896"/>
            <a:ext cx="411480" cy="4114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577840" y="2395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Structured Planning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5577840" y="27432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required to convert notes to plans wastes valuable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65760" y="960120"/>
            <a:ext cx="4114800" cy="3840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4264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Notes &amp; Spreadsheets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1856232"/>
            <a:ext cx="374904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23113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249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Note-Taking Apps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2660904"/>
            <a:ext cx="374904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035808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30540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Tools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465576"/>
            <a:ext cx="3749040" cy="0"/>
          </a:xfrm>
          <a:prstGeom prst="line">
            <a:avLst/>
          </a:prstGeom>
          <a:noFill/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840480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3858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Summarizers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663440" y="960120"/>
            <a:ext cx="4114800" cy="384048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4"/>
          <p:cNvSpPr/>
          <p:nvPr/>
        </p:nvSpPr>
        <p:spPr>
          <a:xfrm>
            <a:off x="4754880" y="10241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GAPS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800600" y="148132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5166360" y="14447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 extraction pipeline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754880" y="1856232"/>
            <a:ext cx="384048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4800600" y="228600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5166360" y="22494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assignment mechanism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754880" y="2660904"/>
            <a:ext cx="384048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800600" y="3090672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2"/>
          <p:cNvSpPr/>
          <p:nvPr/>
        </p:nvSpPr>
        <p:spPr>
          <a:xfrm>
            <a:off x="516636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continuity between meetings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4754880" y="3465576"/>
            <a:ext cx="384048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4800600" y="3895344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5"/>
          <p:cNvSpPr/>
          <p:nvPr/>
        </p:nvSpPr>
        <p:spPr>
          <a:xfrm>
            <a:off x="5166360" y="38587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collaboration features</a:t>
            </a:r>
            <a:endParaRPr lang="en-US" sz="13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4528" y="25603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30">
              <a:alpha val="70000"/>
            </a:srgbClr>
          </a:solidFill>
          <a:ln w="12700">
            <a:solidFill>
              <a:srgbClr val="1A0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1097280" y="960120"/>
            <a:ext cx="6949440" cy="1325880"/>
          </a:xfrm>
          <a:prstGeom prst="rect">
            <a:avLst/>
          </a:prstGeom>
          <a:solidFill>
            <a:srgbClr val="F97316">
              <a:alpha val="15000"/>
            </a:srgbClr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188720" y="1005840"/>
            <a:ext cx="6766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"End-to-end workflow &gt; simple summarization"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20040" y="2468880"/>
            <a:ext cx="3931920" cy="24231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1148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2971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Manual note-taking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337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Keyword search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703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task extraction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40690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role assignment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email generation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14800" y="3337560"/>
            <a:ext cx="822960" cy="8229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11480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2468880"/>
            <a:ext cx="3931920" cy="2423160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83480" y="2532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ActionForge AI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74920" y="29718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AI-powered pipeline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74920" y="3337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Auto task extraction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74920" y="3703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Smart role assignment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74920" y="40690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Deadline detection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74920" y="44348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Auto email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20040" y="1005840"/>
            <a:ext cx="12344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11556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004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2004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Notes / Transcripts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1719072"/>
            <a:ext cx="91440" cy="10972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73736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737360" y="1005840"/>
            <a:ext cx="12344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0552" y="1115568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73736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719072"/>
            <a:ext cx="91440" cy="10972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15468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3"/>
          <p:cNvSpPr/>
          <p:nvPr/>
        </p:nvSpPr>
        <p:spPr>
          <a:xfrm>
            <a:off x="3154680" y="1005840"/>
            <a:ext cx="12344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872" y="1115568"/>
            <a:ext cx="438912" cy="4389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15468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315468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719072"/>
            <a:ext cx="91440" cy="10972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457200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7"/>
          <p:cNvSpPr/>
          <p:nvPr/>
        </p:nvSpPr>
        <p:spPr>
          <a:xfrm>
            <a:off x="4572000" y="1005840"/>
            <a:ext cx="1234440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2" y="1115568"/>
            <a:ext cx="438912" cy="4389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457200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457200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1719072"/>
            <a:ext cx="91440" cy="109728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598932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1"/>
          <p:cNvSpPr/>
          <p:nvPr/>
        </p:nvSpPr>
        <p:spPr>
          <a:xfrm>
            <a:off x="5989320" y="1005840"/>
            <a:ext cx="12344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1115568"/>
            <a:ext cx="438912" cy="43891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98932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598932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9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719072"/>
            <a:ext cx="91440" cy="109728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7406640" y="1005840"/>
            <a:ext cx="1234440" cy="16002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25"/>
          <p:cNvSpPr/>
          <p:nvPr/>
        </p:nvSpPr>
        <p:spPr>
          <a:xfrm>
            <a:off x="7406640" y="1005840"/>
            <a:ext cx="12344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9832" y="1115568"/>
            <a:ext cx="438912" cy="43891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406640" y="16002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900" dirty="0"/>
          </a:p>
        </p:txBody>
      </p:sp>
      <p:sp>
        <p:nvSpPr>
          <p:cNvPr id="41" name="Text 27"/>
          <p:cNvSpPr/>
          <p:nvPr/>
        </p:nvSpPr>
        <p:spPr>
          <a:xfrm>
            <a:off x="7406640" y="1892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320040" y="2834640"/>
            <a:ext cx="8503920" cy="1600200"/>
          </a:xfrm>
          <a:prstGeom prst="rect">
            <a:avLst/>
          </a:prstGeom>
          <a:solidFill>
            <a:srgbClr val="22C55E">
              <a:alpha val="8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29"/>
          <p:cNvSpPr/>
          <p:nvPr/>
        </p:nvSpPr>
        <p:spPr>
          <a:xfrm>
            <a:off x="457200" y="29077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OUTPUT: Structured Action Plan</a:t>
            </a:r>
            <a:endParaRPr lang="en-US" sz="1600" dirty="0"/>
          </a:p>
        </p:txBody>
      </p:sp>
      <p:sp>
        <p:nvSpPr>
          <p:cNvPr id="44" name="Text 30"/>
          <p:cNvSpPr/>
          <p:nvPr/>
        </p:nvSpPr>
        <p:spPr>
          <a:xfrm>
            <a:off x="457200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Task List with Owners</a:t>
            </a:r>
            <a:endParaRPr lang="en-US" sz="1050" dirty="0"/>
          </a:p>
        </p:txBody>
      </p:sp>
      <p:sp>
        <p:nvSpPr>
          <p:cNvPr id="45" name="Text 31"/>
          <p:cNvSpPr/>
          <p:nvPr/>
        </p:nvSpPr>
        <p:spPr>
          <a:xfrm>
            <a:off x="2121408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Clear Deadlines</a:t>
            </a:r>
            <a:endParaRPr lang="en-US" sz="1050" dirty="0"/>
          </a:p>
        </p:txBody>
      </p:sp>
      <p:sp>
        <p:nvSpPr>
          <p:cNvPr id="46" name="Text 32"/>
          <p:cNvSpPr/>
          <p:nvPr/>
        </p:nvSpPr>
        <p:spPr>
          <a:xfrm>
            <a:off x="3785616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Follow-up Emails</a:t>
            </a:r>
            <a:endParaRPr lang="en-US" sz="1050" dirty="0"/>
          </a:p>
        </p:txBody>
      </p:sp>
      <p:sp>
        <p:nvSpPr>
          <p:cNvPr id="47" name="Text 33"/>
          <p:cNvSpPr/>
          <p:nvPr/>
        </p:nvSpPr>
        <p:spPr>
          <a:xfrm>
            <a:off x="5449824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/ CSV Export</a:t>
            </a:r>
            <a:endParaRPr lang="en-US" sz="1050" dirty="0"/>
          </a:p>
        </p:txBody>
      </p:sp>
      <p:sp>
        <p:nvSpPr>
          <p:cNvPr id="48" name="Text 34"/>
          <p:cNvSpPr/>
          <p:nvPr/>
        </p:nvSpPr>
        <p:spPr>
          <a:xfrm>
            <a:off x="7114032" y="33101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Team Collaboration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1828800" cy="237744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" y="960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0040" y="1197864"/>
            <a:ext cx="1828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65760" y="1307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(UI)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755648"/>
            <a:ext cx="411480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31720" y="960120"/>
            <a:ext cx="1828800" cy="237744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331720" y="960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331720" y="1197864"/>
            <a:ext cx="1828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377440" y="1307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37744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755648"/>
            <a:ext cx="411480" cy="2286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343400" y="960120"/>
            <a:ext cx="1828800" cy="237744"/>
          </a:xfrm>
          <a:prstGeom prst="rect">
            <a:avLst/>
          </a:prstGeom>
          <a:solidFill>
            <a:srgbClr val="FBBF24">
              <a:alpha val="7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4343400" y="960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4343400" y="1197864"/>
            <a:ext cx="1828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4389120" y="1307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38912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+ NLP</a:t>
            </a:r>
            <a:endParaRPr lang="en-US" sz="9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55648"/>
            <a:ext cx="411480" cy="228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355080" y="960120"/>
            <a:ext cx="1828800" cy="237744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/>
          <p:cNvSpPr/>
          <p:nvPr/>
        </p:nvSpPr>
        <p:spPr>
          <a:xfrm>
            <a:off x="6355080" y="960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6355080" y="1197864"/>
            <a:ext cx="1828800" cy="13716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6400800" y="130759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STORAGE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6400800" y="1874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+ SQL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320040" y="2761488"/>
            <a:ext cx="7909560" cy="237744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/>
          <p:cNvSpPr/>
          <p:nvPr/>
        </p:nvSpPr>
        <p:spPr>
          <a:xfrm>
            <a:off x="320040" y="276148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320040" y="2999232"/>
            <a:ext cx="7909560" cy="105156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7"/>
          <p:cNvSpPr/>
          <p:nvPr/>
        </p:nvSpPr>
        <p:spPr>
          <a:xfrm>
            <a:off x="457200" y="3063240"/>
            <a:ext cx="7635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SERVICES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PDF Export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2450592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CSV Export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443984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 Dispatch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6437376" y="34015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Calendar Sync</a:t>
            </a:r>
            <a:endParaRPr lang="en-US" sz="11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944368"/>
            <a:ext cx="274320" cy="274320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4251960" y="2569464"/>
            <a:ext cx="0" cy="411480"/>
          </a:xfrm>
          <a:prstGeom prst="line">
            <a:avLst/>
          </a:prstGeom>
          <a:noFill/>
          <a:ln w="1905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20040" y="2578608"/>
            <a:ext cx="2651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125272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1188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11480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role-based access and session management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172968" y="10058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3172968" y="2578608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3310128" y="1188720"/>
            <a:ext cx="548640" cy="54864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125272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50208" y="1188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Collaboration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264408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work on the same session in real time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25896" y="10058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025896" y="2578608"/>
            <a:ext cx="2651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163056" y="1188720"/>
            <a:ext cx="548640" cy="548640"/>
          </a:xfrm>
          <a:prstGeom prst="ellipse">
            <a:avLst/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125272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03136" y="1188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117336" y="18105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retains context across meetings for continuity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8346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20040" y="4407408"/>
            <a:ext cx="265176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081528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&amp; CSV Export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11480" y="3639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structured action plans in multiple formats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172968" y="28346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3172968" y="4407408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6"/>
          <p:cNvSpPr/>
          <p:nvPr/>
        </p:nvSpPr>
        <p:spPr>
          <a:xfrm>
            <a:off x="3310128" y="3017520"/>
            <a:ext cx="548640" cy="548640"/>
          </a:xfrm>
          <a:prstGeom prst="ellipse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3081528"/>
            <a:ext cx="411480" cy="4114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950208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Emails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3264408" y="3639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and send professional follow-up emails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6025896" y="2834640"/>
            <a:ext cx="265176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0"/>
          <p:cNvSpPr/>
          <p:nvPr/>
        </p:nvSpPr>
        <p:spPr>
          <a:xfrm>
            <a:off x="6025896" y="4407408"/>
            <a:ext cx="265176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1"/>
          <p:cNvSpPr/>
          <p:nvPr/>
        </p:nvSpPr>
        <p:spPr>
          <a:xfrm>
            <a:off x="6163056" y="3017520"/>
            <a:ext cx="548640" cy="54864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4" y="3081528"/>
            <a:ext cx="411480" cy="41148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803136" y="3017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150" dirty="0"/>
          </a:p>
        </p:txBody>
      </p:sp>
      <p:sp>
        <p:nvSpPr>
          <p:cNvPr id="42" name="Text 33"/>
          <p:cNvSpPr/>
          <p:nvPr/>
        </p:nvSpPr>
        <p:spPr>
          <a:xfrm>
            <a:off x="6117336" y="36393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NLP pipeline for intelligent task extraction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Evaluation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005840"/>
            <a:ext cx="210312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" y="10972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2004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Extraction Accuracy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005840"/>
            <a:ext cx="210312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06040" y="10972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3s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2606040" y="1737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210312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20040" y="23957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32004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Success Rate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06040" y="2304288"/>
            <a:ext cx="2103120" cy="1170432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606040" y="239572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2606040" y="30358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Reliability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92040" y="960120"/>
            <a:ext cx="3977640" cy="3931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983480" y="102412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17320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68112" y="1417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Testing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863840" y="1435608"/>
            <a:ext cx="749808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7863840" y="143560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07568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468112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863840" y="2093976"/>
            <a:ext cx="749808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7863840" y="209397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73405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68112" y="273405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Functionality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863840" y="2752344"/>
            <a:ext cx="749808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6"/>
          <p:cNvSpPr/>
          <p:nvPr/>
        </p:nvSpPr>
        <p:spPr>
          <a:xfrm>
            <a:off x="7863840" y="27523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392424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68112" y="33924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Collaboration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7863840" y="3410712"/>
            <a:ext cx="749808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7863840" y="341071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4050792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68112" y="40507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Testing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7863840" y="4069080"/>
            <a:ext cx="749808" cy="256032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7863840" y="40690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80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274320" y="3611880"/>
          <a:ext cx="44805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74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— App Screenshots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960120"/>
            <a:ext cx="4114800" cy="192024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7C3AED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20040" y="960120"/>
            <a:ext cx="4114800" cy="301752"/>
          </a:xfrm>
          <a:prstGeom prst="rect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966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978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Screenshot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011680" y="1527048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29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63440" y="960120"/>
            <a:ext cx="4114800" cy="192024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4663440" y="960120"/>
            <a:ext cx="4114800" cy="301752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9669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29200" y="978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Plan Output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6355080" y="1527048"/>
            <a:ext cx="731520" cy="7315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46320" y="2331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20040" y="3063240"/>
            <a:ext cx="4114800" cy="192024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3B82F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3"/>
          <p:cNvSpPr/>
          <p:nvPr/>
        </p:nvSpPr>
        <p:spPr>
          <a:xfrm>
            <a:off x="320040" y="3063240"/>
            <a:ext cx="4114800" cy="301752"/>
          </a:xfrm>
          <a:prstGeom prst="rect">
            <a:avLst/>
          </a:prstGeom>
          <a:solidFill>
            <a:srgbClr val="3B82F6">
              <a:alpha val="5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09981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&amp; Tasks View</a:t>
            </a:r>
            <a:endParaRPr lang="en-US" sz="10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2011680" y="3630168"/>
            <a:ext cx="731520" cy="7315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0292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4663440" y="3063240"/>
            <a:ext cx="4114800" cy="1920240"/>
          </a:xfrm>
          <a:prstGeom prst="rect">
            <a:avLst/>
          </a:prstGeom>
          <a:solidFill>
            <a:srgbClr val="FFFFFF">
              <a:alpha val="4000"/>
            </a:srgbClr>
          </a:solidFill>
          <a:ln w="19050">
            <a:solidFill>
              <a:srgbClr val="22C55E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17"/>
          <p:cNvSpPr/>
          <p:nvPr/>
        </p:nvSpPr>
        <p:spPr>
          <a:xfrm>
            <a:off x="4663440" y="3063240"/>
            <a:ext cx="4114800" cy="301752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099816"/>
            <a:ext cx="237744" cy="23774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2920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Email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6355080" y="3630168"/>
            <a:ext cx="731520" cy="73152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846320" y="4434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CECE-A3BC-64BF-F61B-7779E5D30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1226219"/>
            <a:ext cx="4114800" cy="176387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0A8D17E-DFD7-B9BB-A15D-AFE1142244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1255475"/>
            <a:ext cx="4086162" cy="181817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FD2E891-6C67-26F2-79B0-1E65FAB448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040" y="3355848"/>
            <a:ext cx="4114800" cy="172821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50720B3-B972-95F7-2CF5-40026B8509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3391155"/>
            <a:ext cx="4160520" cy="16055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30">
              <a:alpha val="70000"/>
            </a:srgbClr>
          </a:solidFill>
          <a:ln w="12700">
            <a:solidFill>
              <a:srgbClr val="1A0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046720" y="182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97316">
                    <a:alpha val="4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20040" y="960120"/>
            <a:ext cx="3931920" cy="3913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20040" y="960120"/>
            <a:ext cx="39319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14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1444752"/>
            <a:ext cx="502920" cy="50292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904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43000" y="15270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discussions into structured action plans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523744"/>
            <a:ext cx="502920" cy="50292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6946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team productivity &amp; accountability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3602736"/>
            <a:ext cx="502920" cy="502920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484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6850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through full AI automation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0" y="960120"/>
            <a:ext cx="4251960" cy="391363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4572000" y="960120"/>
            <a:ext cx="4251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6"/>
          <p:cNvSpPr/>
          <p:nvPr/>
        </p:nvSpPr>
        <p:spPr>
          <a:xfrm>
            <a:off x="4663440" y="10515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54880" y="1463040"/>
            <a:ext cx="347472" cy="347472"/>
          </a:xfrm>
          <a:prstGeom prst="ellipse">
            <a:avLst/>
          </a:prstGeom>
          <a:solidFill>
            <a:srgbClr val="FBBF24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312" y="1481328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30368" y="1490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754880" y="2121408"/>
            <a:ext cx="347472" cy="347472"/>
          </a:xfrm>
          <a:prstGeom prst="ellipse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2312" y="2139696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30368" y="21488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Priority Scoring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754880" y="2779776"/>
            <a:ext cx="347472" cy="347472"/>
          </a:xfrm>
          <a:prstGeom prst="ellipse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2312" y="2798064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230368" y="280720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4754880" y="3438144"/>
            <a:ext cx="347472" cy="347472"/>
          </a:xfrm>
          <a:prstGeom prst="ellipse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456432"/>
            <a:ext cx="292608" cy="29260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30368" y="346557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 Dashboard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4754880" y="4096512"/>
            <a:ext cx="347472" cy="347472"/>
          </a:xfrm>
          <a:prstGeom prst="ellipse">
            <a:avLst/>
          </a:prstGeom>
          <a:solidFill>
            <a:srgbClr val="EC4899">
              <a:alpha val="40000"/>
            </a:srgbClr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2312" y="4114800"/>
            <a:ext cx="292608" cy="29260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230368" y="412394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Support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320040" y="4754880"/>
            <a:ext cx="850392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28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ActionForge AI  •  Turning Meetings into Action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500</Words>
  <Application>Microsoft Office PowerPoint</Application>
  <PresentationFormat>On-screen Show (16:9)</PresentationFormat>
  <Paragraphs>158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ActionForge AI</dc:title>
  <dc:subject>PptxGenJS Presentation</dc:subject>
  <dc:creator>ActionForge AI Team</dc:creator>
  <cp:lastModifiedBy>Pranav Krishna</cp:lastModifiedBy>
  <cp:revision>3</cp:revision>
  <dcterms:created xsi:type="dcterms:W3CDTF">2026-04-27T18:19:57Z</dcterms:created>
  <dcterms:modified xsi:type="dcterms:W3CDTF">2026-04-27T18:38:15Z</dcterms:modified>
</cp:coreProperties>
</file>